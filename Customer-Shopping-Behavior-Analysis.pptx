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useoModerno Medium" panose="020B0604020202020204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52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Shopping Behavior Analysis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customer behavior is key to driving growth.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1338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Project Overview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512052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512052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53778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586823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spending patterns, key customer groups, and product interests from 3,900 purchases.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512052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98067" y="512052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10" name="Text 7"/>
          <p:cNvSpPr/>
          <p:nvPr/>
        </p:nvSpPr>
        <p:spPr>
          <a:xfrm>
            <a:off x="7777282" y="53778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Goal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7282" y="586823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Shape marketing, retention, and product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302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Dataset Summary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3742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transactions, 18 features: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412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demographics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834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 details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256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Shopping behavior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25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data: 37 entries in Review Rating.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210" y="636998"/>
            <a:ext cx="8236969" cy="82369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7132"/>
            <a:ext cx="78253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Exploratory Data Analysis (Python)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87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242780"/>
            <a:ext cx="6407944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417088"/>
            <a:ext cx="37833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2907506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dataset, checked structure and summary statistics.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1887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242780"/>
            <a:ext cx="6408063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417088"/>
            <a:ext cx="31802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290750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Imputed missing 'Review Rating' entries using median by category.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66724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022288"/>
            <a:ext cx="6407944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196596"/>
            <a:ext cx="33297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Column Standardization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68701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Renamed columns to snake_case for consistency.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66724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022288"/>
            <a:ext cx="6408063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1965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68701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'age_group' and 'purchase_frequency_days'.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4467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5801797"/>
            <a:ext cx="6407944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5976104"/>
            <a:ext cx="32126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Consistency Check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46652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Removed 'promo_code_used' due to duplication with 'discount_applied'.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4467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5801797"/>
            <a:ext cx="6408063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548" y="5976104"/>
            <a:ext cx="30116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46652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Cleaned data loaded into PostgreSQL for structured queries.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413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452" y="445889"/>
            <a:ext cx="324302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Analysis (SQL)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67452" y="1094423"/>
            <a:ext cx="800909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Simulated business transactions for actionable insights.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67452" y="1779389"/>
            <a:ext cx="8009096" cy="1200150"/>
          </a:xfrm>
          <a:prstGeom prst="roundRect">
            <a:avLst>
              <a:gd name="adj" fmla="val 9143"/>
            </a:avLst>
          </a:prstGeom>
          <a:solidFill>
            <a:srgbClr val="FFFCF5"/>
          </a:solidFill>
          <a:ln/>
        </p:spPr>
      </p:sp>
      <p:sp>
        <p:nvSpPr>
          <p:cNvPr id="6" name="Shape 3"/>
          <p:cNvSpPr/>
          <p:nvPr/>
        </p:nvSpPr>
        <p:spPr>
          <a:xfrm>
            <a:off x="567452" y="1756529"/>
            <a:ext cx="8009096" cy="91440"/>
          </a:xfrm>
          <a:prstGeom prst="roundRect">
            <a:avLst>
              <a:gd name="adj" fmla="val 26600"/>
            </a:avLst>
          </a:prstGeom>
          <a:solidFill>
            <a:srgbClr val="325F7B"/>
          </a:solidFill>
          <a:ln/>
        </p:spPr>
      </p:sp>
      <p:sp>
        <p:nvSpPr>
          <p:cNvPr id="7" name="Shape 4"/>
          <p:cNvSpPr/>
          <p:nvPr/>
        </p:nvSpPr>
        <p:spPr>
          <a:xfrm>
            <a:off x="4328815" y="1536263"/>
            <a:ext cx="486370" cy="486370"/>
          </a:xfrm>
          <a:prstGeom prst="roundRect">
            <a:avLst>
              <a:gd name="adj" fmla="val 188005"/>
            </a:avLst>
          </a:prstGeom>
          <a:solidFill>
            <a:srgbClr val="325F7B"/>
          </a:solidFill>
          <a:ln/>
        </p:spPr>
      </p:sp>
      <p:sp>
        <p:nvSpPr>
          <p:cNvPr id="8" name="Text 5"/>
          <p:cNvSpPr/>
          <p:nvPr/>
        </p:nvSpPr>
        <p:spPr>
          <a:xfrm>
            <a:off x="4474666" y="1657826"/>
            <a:ext cx="194548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2356" y="2184678"/>
            <a:ext cx="2026801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Revenue by Gender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2356" y="2535198"/>
            <a:ext cx="7639288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Female: $75,191, Male: $157,890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7452" y="3384709"/>
            <a:ext cx="8009096" cy="1200150"/>
          </a:xfrm>
          <a:prstGeom prst="roundRect">
            <a:avLst>
              <a:gd name="adj" fmla="val 9143"/>
            </a:avLst>
          </a:prstGeom>
          <a:solidFill>
            <a:srgbClr val="FFFCF5"/>
          </a:solidFill>
          <a:ln/>
        </p:spPr>
      </p:sp>
      <p:sp>
        <p:nvSpPr>
          <p:cNvPr id="12" name="Shape 9"/>
          <p:cNvSpPr/>
          <p:nvPr/>
        </p:nvSpPr>
        <p:spPr>
          <a:xfrm>
            <a:off x="567452" y="3361849"/>
            <a:ext cx="8009096" cy="91440"/>
          </a:xfrm>
          <a:prstGeom prst="roundRect">
            <a:avLst>
              <a:gd name="adj" fmla="val 26600"/>
            </a:avLst>
          </a:prstGeom>
          <a:solidFill>
            <a:srgbClr val="325F7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8815" y="3141583"/>
            <a:ext cx="486370" cy="486370"/>
          </a:xfrm>
          <a:prstGeom prst="roundRect">
            <a:avLst>
              <a:gd name="adj" fmla="val 188005"/>
            </a:avLst>
          </a:prstGeom>
          <a:solidFill>
            <a:srgbClr val="325F7B"/>
          </a:solidFill>
          <a:ln/>
        </p:spPr>
      </p:sp>
      <p:sp>
        <p:nvSpPr>
          <p:cNvPr id="14" name="Text 11"/>
          <p:cNvSpPr/>
          <p:nvPr/>
        </p:nvSpPr>
        <p:spPr>
          <a:xfrm>
            <a:off x="4474666" y="3263146"/>
            <a:ext cx="194548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52356" y="3789998"/>
            <a:ext cx="2957155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High-Spending Discount Users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52356" y="4140518"/>
            <a:ext cx="7639288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839 customers for upsell campaigns.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7452" y="4990028"/>
            <a:ext cx="8009096" cy="1200150"/>
          </a:xfrm>
          <a:prstGeom prst="roundRect">
            <a:avLst>
              <a:gd name="adj" fmla="val 9143"/>
            </a:avLst>
          </a:prstGeom>
          <a:solidFill>
            <a:srgbClr val="FFFCF5"/>
          </a:solidFill>
          <a:ln/>
        </p:spPr>
      </p:sp>
      <p:sp>
        <p:nvSpPr>
          <p:cNvPr id="18" name="Shape 15"/>
          <p:cNvSpPr/>
          <p:nvPr/>
        </p:nvSpPr>
        <p:spPr>
          <a:xfrm>
            <a:off x="567452" y="4967168"/>
            <a:ext cx="8009096" cy="91440"/>
          </a:xfrm>
          <a:prstGeom prst="roundRect">
            <a:avLst>
              <a:gd name="adj" fmla="val 26600"/>
            </a:avLst>
          </a:prstGeom>
          <a:solidFill>
            <a:srgbClr val="325F7B"/>
          </a:solidFill>
          <a:ln/>
        </p:spPr>
      </p:sp>
      <p:sp>
        <p:nvSpPr>
          <p:cNvPr id="19" name="Shape 16"/>
          <p:cNvSpPr/>
          <p:nvPr/>
        </p:nvSpPr>
        <p:spPr>
          <a:xfrm>
            <a:off x="4328815" y="4746903"/>
            <a:ext cx="486370" cy="486370"/>
          </a:xfrm>
          <a:prstGeom prst="roundRect">
            <a:avLst>
              <a:gd name="adj" fmla="val 188005"/>
            </a:avLst>
          </a:prstGeom>
          <a:solidFill>
            <a:srgbClr val="325F7B"/>
          </a:solidFill>
          <a:ln/>
        </p:spPr>
      </p:sp>
      <p:sp>
        <p:nvSpPr>
          <p:cNvPr id="20" name="Text 17"/>
          <p:cNvSpPr/>
          <p:nvPr/>
        </p:nvSpPr>
        <p:spPr>
          <a:xfrm>
            <a:off x="4474666" y="4868466"/>
            <a:ext cx="194548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2356" y="5395317"/>
            <a:ext cx="2451021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 5 Products by Rating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52356" y="5745837"/>
            <a:ext cx="7639288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 (3.86), Sandals (3.84), Boots (3.82), Hat (3.80), Skirt (3.78)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67452" y="6595348"/>
            <a:ext cx="8009096" cy="1200150"/>
          </a:xfrm>
          <a:prstGeom prst="roundRect">
            <a:avLst>
              <a:gd name="adj" fmla="val 9143"/>
            </a:avLst>
          </a:prstGeom>
          <a:solidFill>
            <a:srgbClr val="FFFCF5"/>
          </a:solidFill>
          <a:ln/>
        </p:spPr>
      </p:sp>
      <p:sp>
        <p:nvSpPr>
          <p:cNvPr id="24" name="Shape 21"/>
          <p:cNvSpPr/>
          <p:nvPr/>
        </p:nvSpPr>
        <p:spPr>
          <a:xfrm>
            <a:off x="567452" y="6572488"/>
            <a:ext cx="8009096" cy="91440"/>
          </a:xfrm>
          <a:prstGeom prst="roundRect">
            <a:avLst>
              <a:gd name="adj" fmla="val 26600"/>
            </a:avLst>
          </a:prstGeom>
          <a:solidFill>
            <a:srgbClr val="325F7B"/>
          </a:solidFill>
          <a:ln/>
        </p:spPr>
      </p:sp>
      <p:sp>
        <p:nvSpPr>
          <p:cNvPr id="25" name="Shape 22"/>
          <p:cNvSpPr/>
          <p:nvPr/>
        </p:nvSpPr>
        <p:spPr>
          <a:xfrm>
            <a:off x="4328815" y="6352223"/>
            <a:ext cx="486370" cy="486370"/>
          </a:xfrm>
          <a:prstGeom prst="roundRect">
            <a:avLst>
              <a:gd name="adj" fmla="val 188005"/>
            </a:avLst>
          </a:prstGeom>
          <a:solidFill>
            <a:srgbClr val="325F7B"/>
          </a:solidFill>
          <a:ln/>
        </p:spPr>
      </p:sp>
      <p:sp>
        <p:nvSpPr>
          <p:cNvPr id="26" name="Text 23"/>
          <p:cNvSpPr/>
          <p:nvPr/>
        </p:nvSpPr>
        <p:spPr>
          <a:xfrm>
            <a:off x="4474666" y="6473785"/>
            <a:ext cx="194548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2356" y="7000637"/>
            <a:ext cx="2590800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Shipping Type Comparison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52356" y="7351157"/>
            <a:ext cx="7639288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Standard: $58.46, Express: $60.48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99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323" y="2964537"/>
            <a:ext cx="4441388" cy="486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SQL Insights Continued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80323" y="4033718"/>
            <a:ext cx="6537722" cy="1745337"/>
          </a:xfrm>
          <a:prstGeom prst="roundRect">
            <a:avLst>
              <a:gd name="adj" fmla="val 6287"/>
            </a:avLst>
          </a:prstGeom>
          <a:solidFill>
            <a:srgbClr val="FFFCF5"/>
          </a:solidFill>
          <a:ln/>
        </p:spPr>
      </p:sp>
      <p:sp>
        <p:nvSpPr>
          <p:cNvPr id="5" name="Shape 2"/>
          <p:cNvSpPr/>
          <p:nvPr/>
        </p:nvSpPr>
        <p:spPr>
          <a:xfrm>
            <a:off x="680323" y="4010858"/>
            <a:ext cx="6537722" cy="91440"/>
          </a:xfrm>
          <a:prstGeom prst="roundRect">
            <a:avLst>
              <a:gd name="adj" fmla="val 31890"/>
            </a:avLst>
          </a:prstGeom>
          <a:solidFill>
            <a:srgbClr val="325F7B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0" y="3742134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325F7B"/>
          </a:solidFill>
          <a:ln/>
        </p:spPr>
      </p:sp>
      <p:sp>
        <p:nvSpPr>
          <p:cNvPr id="7" name="Text 4"/>
          <p:cNvSpPr/>
          <p:nvPr/>
        </p:nvSpPr>
        <p:spPr>
          <a:xfrm>
            <a:off x="3832503" y="3887867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7493" y="4519613"/>
            <a:ext cx="3715464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Subscribers vs. Non-Subscribers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97493" y="4939903"/>
            <a:ext cx="6103382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Subscribers: 1053 customers, $62,645 revenue.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12355" y="4033718"/>
            <a:ext cx="6537722" cy="1745337"/>
          </a:xfrm>
          <a:prstGeom prst="roundRect">
            <a:avLst>
              <a:gd name="adj" fmla="val 6287"/>
            </a:avLst>
          </a:prstGeom>
          <a:solidFill>
            <a:srgbClr val="FFFCF5"/>
          </a:solidFill>
          <a:ln/>
        </p:spPr>
      </p:sp>
      <p:sp>
        <p:nvSpPr>
          <p:cNvPr id="11" name="Shape 8"/>
          <p:cNvSpPr/>
          <p:nvPr/>
        </p:nvSpPr>
        <p:spPr>
          <a:xfrm>
            <a:off x="7412355" y="4010858"/>
            <a:ext cx="6537722" cy="91440"/>
          </a:xfrm>
          <a:prstGeom prst="roundRect">
            <a:avLst>
              <a:gd name="adj" fmla="val 31890"/>
            </a:avLst>
          </a:prstGeom>
          <a:solidFill>
            <a:srgbClr val="325F7B"/>
          </a:solidFill>
          <a:ln/>
        </p:spPr>
      </p:sp>
      <p:sp>
        <p:nvSpPr>
          <p:cNvPr id="12" name="Shape 9"/>
          <p:cNvSpPr/>
          <p:nvPr/>
        </p:nvSpPr>
        <p:spPr>
          <a:xfrm>
            <a:off x="10389632" y="3742134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325F7B"/>
          </a:solidFill>
          <a:ln/>
        </p:spPr>
      </p:sp>
      <p:sp>
        <p:nvSpPr>
          <p:cNvPr id="13" name="Text 10"/>
          <p:cNvSpPr/>
          <p:nvPr/>
        </p:nvSpPr>
        <p:spPr>
          <a:xfrm>
            <a:off x="10564535" y="3887867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29525" y="4519613"/>
            <a:ext cx="349055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Discount-Dependent Products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629525" y="4939903"/>
            <a:ext cx="6103382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 (50%), Sneakers (49.66%), Coat (49.07%), Sweater (48.17%), Pants (47.37%)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0323" y="6264950"/>
            <a:ext cx="6537722" cy="1434346"/>
          </a:xfrm>
          <a:prstGeom prst="roundRect">
            <a:avLst>
              <a:gd name="adj" fmla="val 7650"/>
            </a:avLst>
          </a:prstGeom>
          <a:solidFill>
            <a:srgbClr val="FFFCF5"/>
          </a:solidFill>
          <a:ln/>
        </p:spPr>
      </p:sp>
      <p:sp>
        <p:nvSpPr>
          <p:cNvPr id="17" name="Shape 14"/>
          <p:cNvSpPr/>
          <p:nvPr/>
        </p:nvSpPr>
        <p:spPr>
          <a:xfrm>
            <a:off x="680323" y="6242090"/>
            <a:ext cx="6537722" cy="91440"/>
          </a:xfrm>
          <a:prstGeom prst="roundRect">
            <a:avLst>
              <a:gd name="adj" fmla="val 31890"/>
            </a:avLst>
          </a:prstGeom>
          <a:solidFill>
            <a:srgbClr val="325F7B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0" y="5973366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325F7B"/>
          </a:solidFill>
          <a:ln/>
        </p:spPr>
      </p:sp>
      <p:sp>
        <p:nvSpPr>
          <p:cNvPr id="19" name="Text 16"/>
          <p:cNvSpPr/>
          <p:nvPr/>
        </p:nvSpPr>
        <p:spPr>
          <a:xfrm>
            <a:off x="3832503" y="6119098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97493" y="6750844"/>
            <a:ext cx="2858810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Segmentation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97493" y="7171134"/>
            <a:ext cx="6103382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Loyal (3116), Returning (701), New (83)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12355" y="6264950"/>
            <a:ext cx="6537722" cy="1434346"/>
          </a:xfrm>
          <a:prstGeom prst="roundRect">
            <a:avLst>
              <a:gd name="adj" fmla="val 7650"/>
            </a:avLst>
          </a:prstGeom>
          <a:solidFill>
            <a:srgbClr val="FFFCF5"/>
          </a:solidFill>
          <a:ln/>
        </p:spPr>
      </p:sp>
      <p:sp>
        <p:nvSpPr>
          <p:cNvPr id="23" name="Shape 20"/>
          <p:cNvSpPr/>
          <p:nvPr/>
        </p:nvSpPr>
        <p:spPr>
          <a:xfrm>
            <a:off x="7412355" y="6242090"/>
            <a:ext cx="6537722" cy="91440"/>
          </a:xfrm>
          <a:prstGeom prst="roundRect">
            <a:avLst>
              <a:gd name="adj" fmla="val 31890"/>
            </a:avLst>
          </a:prstGeom>
          <a:solidFill>
            <a:srgbClr val="325F7B"/>
          </a:solidFill>
          <a:ln/>
        </p:spPr>
      </p:sp>
      <p:sp>
        <p:nvSpPr>
          <p:cNvPr id="24" name="Shape 21"/>
          <p:cNvSpPr/>
          <p:nvPr/>
        </p:nvSpPr>
        <p:spPr>
          <a:xfrm>
            <a:off x="10389632" y="5973366"/>
            <a:ext cx="583168" cy="583168"/>
          </a:xfrm>
          <a:prstGeom prst="roundRect">
            <a:avLst>
              <a:gd name="adj" fmla="val 156799"/>
            </a:avLst>
          </a:prstGeom>
          <a:solidFill>
            <a:srgbClr val="325F7B"/>
          </a:solidFill>
          <a:ln/>
        </p:spPr>
      </p:sp>
      <p:sp>
        <p:nvSpPr>
          <p:cNvPr id="25" name="Text 22"/>
          <p:cNvSpPr/>
          <p:nvPr/>
        </p:nvSpPr>
        <p:spPr>
          <a:xfrm>
            <a:off x="10564535" y="6119098"/>
            <a:ext cx="23324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629525" y="6750844"/>
            <a:ext cx="3609856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Repeat Buyers &amp; Subscriptions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7629525" y="7171134"/>
            <a:ext cx="6103382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958 repeat buyers are subscribers.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32729"/>
            <a:ext cx="695456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 Products &amp; Revenue by Age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966680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 3 Products per Category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0215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Accessories: Jewelry, Sunglasses, Belt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0725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Clothing: Blouse, Pants, Shirt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4945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Footwear: Sandals, Shoes, Sneakers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95455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Outerwear: Jacket, Coat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2966680"/>
            <a:ext cx="31559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354782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Adult: $62,143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399002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Middle-aged: $59,197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43222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Adult: $55,978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487441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Senior: $55,763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02468"/>
            <a:ext cx="516326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Dashboard in Power BI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5096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 for visual insights.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24100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3.9K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6280190" y="527280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893493" y="424100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$59.76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527280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Avg. Purchase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506795" y="424100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3.75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11506795" y="527280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Avg. Review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410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Dashboard Visuals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388"/>
            <a:ext cx="6244709" cy="323969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46001" y="5806559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62A36"/>
          </a:solidFill>
          <a:ln/>
        </p:spPr>
      </p:sp>
      <p:sp>
        <p:nvSpPr>
          <p:cNvPr id="5" name="Text 2"/>
          <p:cNvSpPr/>
          <p:nvPr/>
        </p:nvSpPr>
        <p:spPr>
          <a:xfrm>
            <a:off x="3533775" y="5806559"/>
            <a:ext cx="3061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3992285" y="5806559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C8DB6"/>
          </a:solidFill>
          <a:ln/>
        </p:spPr>
      </p:sp>
      <p:sp>
        <p:nvSpPr>
          <p:cNvPr id="7" name="Text 4"/>
          <p:cNvSpPr/>
          <p:nvPr/>
        </p:nvSpPr>
        <p:spPr>
          <a:xfrm>
            <a:off x="4280059" y="5806559"/>
            <a:ext cx="2695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2885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 Status: 27% Yes, 73% No.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2536388"/>
            <a:ext cx="6244709" cy="34969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99521" y="62885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by Category: Clothing leads.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15910"/>
            <a:ext cx="6139934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Business Recommendations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061" y="1628596"/>
            <a:ext cx="335161" cy="3351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522" y="1621631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508522" y="2104906"/>
            <a:ext cx="1233963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benefits like free shipping, early access.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061" y="2916376"/>
            <a:ext cx="335161" cy="3351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522" y="2909411"/>
            <a:ext cx="3765828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Loyalty Programs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508522" y="3392686"/>
            <a:ext cx="1233963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 rewards for repeat buyers.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061" y="4204156"/>
            <a:ext cx="335161" cy="335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8522" y="4197191"/>
            <a:ext cx="3099435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508522" y="4680466"/>
            <a:ext cx="1233963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 discount-reliant products for profitability.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061" y="5491936"/>
            <a:ext cx="335161" cy="3351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08522" y="5484971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Product Positioning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508522" y="5968246"/>
            <a:ext cx="1233963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top-rated products in marketing.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061" y="6779716"/>
            <a:ext cx="335161" cy="3351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08522" y="6772751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1508522" y="7256026"/>
            <a:ext cx="12339638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and Express shipping users.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460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MuseoModerno Medium</vt:lpstr>
      <vt:lpstr>Arial</vt:lpstr>
      <vt:lpstr>Source Sans 3</vt:lpstr>
      <vt:lpstr>MuseoModerno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Towhidul Islam</cp:lastModifiedBy>
  <cp:revision>2</cp:revision>
  <dcterms:created xsi:type="dcterms:W3CDTF">2025-12-31T08:14:20Z</dcterms:created>
  <dcterms:modified xsi:type="dcterms:W3CDTF">2025-12-31T08:18:53Z</dcterms:modified>
</cp:coreProperties>
</file>